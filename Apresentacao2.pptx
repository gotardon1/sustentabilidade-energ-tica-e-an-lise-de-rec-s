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2" r:id="rId10"/>
    <p:sldId id="264" r:id="rId11"/>
    <p:sldId id="273" r:id="rId12"/>
    <p:sldId id="265" r:id="rId13"/>
    <p:sldId id="274" r:id="rId14"/>
    <p:sldId id="275" r:id="rId15"/>
    <p:sldId id="266" r:id="rId16"/>
    <p:sldId id="276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C48D23-BCAD-4802-9C4D-6211EB21450F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138E5-4312-489B-8947-C0A74AAF654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27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01484-5714-4EB3-96A8-E02B97B171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0468DEF-DC37-4FDC-8D00-48A9EE2FCF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91A2C3-2C8E-49D7-8FAE-F1B1F692C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8AEA41C-3C62-4DF6-903B-79E615F9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CDD6E6-7129-4A42-A555-3E171D83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5726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77437-C1C2-4A44-B914-EA3F11472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D0F7F2-B6C7-4385-B419-62A10C1B6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25EF9C4-46D1-489E-9F68-CA5A0762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C21A4-6734-4640-AFEB-4C432D593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8151EE5-6C93-472C-AFF8-5E54F9BE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7856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E30BDB-C0C6-4AF9-8544-19E87D61D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F4CCFFC-3B1C-41A7-BE97-00886E22B6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EC1E416-7250-4363-A1C6-47052151F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F3A206E-B615-4D37-AF66-F39936698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39AAF0-1308-4929-9C80-F68353478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0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23101D-5494-4635-9312-F23CA23E3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446B4C3-D43E-4399-AB86-649ABCBE6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658041E-FB19-4BD9-A79E-A32D68F5D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98CEC3C-9FC9-417F-993B-5E134D06C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CD2176D-0138-4E9A-993E-31EA9986C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A4197D-0B74-4801-B801-950CC92BA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52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75BD0-27DB-4515-8209-493A9F82F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315257-59C3-4049-9B9B-766DA312D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4C1B5D2-C208-4C11-82E6-360E63FC3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8B3BF01-EE39-445F-9CE2-453A28C90D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E324A67-9A4D-4FBE-9FD7-F569FC813E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B960F3-3886-4849-98A8-CAE26CFFC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FF151AF-B913-46C4-80D4-4ACD6979F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DFEFCE9-F757-4159-A7B7-88EA1978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548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B3F44-C5E1-46C4-80C6-5AA1E3206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FB5D82A-CD62-45E1-A052-23F1B7827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DE0DB66-B50A-4EB3-BC37-4F8ECD300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5DE11A-1D95-4A2F-93D3-C6A50DBB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758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A78B5FF-917C-4537-9714-4FCCCF40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6AF5770-3051-40FC-94F5-A9F450DB6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C478E8D-ED59-4932-89EE-BB0122DB4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157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36BE4-C877-405C-8D10-122F41C7C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3FC1E4-EC03-47F9-B75F-114EAAD2F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CD4574-B1EA-4E8A-BA00-FB0E28BA42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C33594-4B4F-4268-9517-148CA284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21C45A-65FD-4FD6-9D1A-365403A5A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6751FB-7B3B-4DC2-9300-DD7EE0DA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8913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B1E20A-C5DC-4BC9-8EF6-F7D730D03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6CDFCDA-D2FC-46F7-BA94-B51943AE2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D870E6-1827-466D-9F93-A8613BC56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F4DC4A-54E9-4989-A0C4-20BFCFCA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8AD668-7071-4B95-AC92-7544BCE70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99743DC-CEF5-4D62-ADBD-E11F44092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7189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470ED-7753-4C63-8BF8-A5D40ED8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111D6C7-8DBD-438A-9A71-6B1333BE3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711D76-1613-4F22-9341-8E42D99DF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F1BD86-809D-4B0A-9DF7-2C3D06B40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A901AE-D0FC-461E-BF42-D5419D6F8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994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FEB3352-0EAB-41D7-90FC-6C76668E7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C6A163-BBF6-4741-995E-05330BB188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4194A8-E282-4E76-8745-3B9D28DC5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E4C4AB-BE7F-4154-8787-97425A0DD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8C480B-2FD6-4AFD-9C4B-8536FAC31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617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3C73D6D-BAF7-4E4B-BB74-10C6E6A7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4CDB07-17B6-4CE8-9D7E-5EF611E2A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EFFA20-92E3-4462-9D25-ED6AADE1C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AFDDB-0D82-43CA-8B4E-185186C30D6B}" type="datetimeFigureOut">
              <a:rPr lang="pt-BR" smtClean="0"/>
              <a:t>09/06/2022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AFC7D0-F9BC-47D6-AE37-362AC183C2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B78430-BC88-496F-AD6E-D4F9423FD3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A59ECB-5D9E-4B2E-97D9-2CB562740E5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158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A81BCB3-457E-41DA-B999-DC019D0B7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F4B432D-9632-4A39-B5CE-ADF4AED2C3B7}"/>
              </a:ext>
            </a:extLst>
          </p:cNvPr>
          <p:cNvSpPr txBox="1"/>
          <p:nvPr/>
        </p:nvSpPr>
        <p:spPr>
          <a:xfrm>
            <a:off x="4902200" y="939800"/>
            <a:ext cx="7289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PROJETO EMPRESARIAL DE SUSTENTABILIDADE ENERGETICA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2205F5D-FF1F-433D-BC04-91AEDB9F9D98}"/>
              </a:ext>
            </a:extLst>
          </p:cNvPr>
          <p:cNvSpPr txBox="1"/>
          <p:nvPr/>
        </p:nvSpPr>
        <p:spPr>
          <a:xfrm>
            <a:off x="11523133" y="6460067"/>
            <a:ext cx="6688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EAC6E883-1962-4F28-A0C4-5EBC4A3420CA}"/>
              </a:ext>
            </a:extLst>
          </p:cNvPr>
          <p:cNvSpPr txBox="1"/>
          <p:nvPr/>
        </p:nvSpPr>
        <p:spPr>
          <a:xfrm>
            <a:off x="7620000" y="4665133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b="1" i="1" dirty="0">
                <a:solidFill>
                  <a:schemeClr val="bg1"/>
                </a:solidFill>
                <a:effectLst/>
                <a:latin typeface="Whitney"/>
              </a:rPr>
              <a:t>Fabrício Corrêa de Souza</a:t>
            </a:r>
            <a:br>
              <a:rPr lang="pt-BR" sz="1800" b="1" i="1" dirty="0">
                <a:solidFill>
                  <a:schemeClr val="bg1"/>
                </a:solidFill>
                <a:effectLst/>
                <a:latin typeface="Whitney"/>
              </a:rPr>
            </a:br>
            <a:r>
              <a:rPr lang="pt-BR" sz="1800" b="1" i="1" dirty="0">
                <a:solidFill>
                  <a:schemeClr val="bg1"/>
                </a:solidFill>
                <a:effectLst/>
                <a:latin typeface="Whitney"/>
              </a:rPr>
              <a:t>Matheus Gonçalves Gotardo</a:t>
            </a:r>
            <a:br>
              <a:rPr lang="pt-BR" sz="1800" b="1" i="1" dirty="0">
                <a:solidFill>
                  <a:schemeClr val="bg1"/>
                </a:solidFill>
                <a:effectLst/>
                <a:latin typeface="Whitney"/>
              </a:rPr>
            </a:br>
            <a:r>
              <a:rPr lang="pt-BR" sz="1800" b="1" i="1" dirty="0">
                <a:solidFill>
                  <a:schemeClr val="bg1"/>
                </a:solidFill>
                <a:effectLst/>
                <a:latin typeface="Whitney"/>
              </a:rPr>
              <a:t>Nicole Guerreiro Diniz</a:t>
            </a:r>
            <a:br>
              <a:rPr lang="pt-BR" sz="1800" b="1" i="1" dirty="0">
                <a:solidFill>
                  <a:schemeClr val="bg1"/>
                </a:solidFill>
                <a:effectLst/>
                <a:latin typeface="Whitney"/>
              </a:rPr>
            </a:br>
            <a:r>
              <a:rPr lang="pt-BR" sz="1800" b="1" i="1" dirty="0">
                <a:solidFill>
                  <a:schemeClr val="bg1"/>
                </a:solidFill>
                <a:effectLst/>
                <a:latin typeface="Whitney"/>
              </a:rPr>
              <a:t>Willian de Andrade Baggio</a:t>
            </a:r>
            <a:endParaRPr lang="pt-B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6080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93750FB-EAD6-41F3-86E7-153F9118E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5D8C069-1B91-41F4-8CD8-24D24128D191}"/>
              </a:ext>
            </a:extLst>
          </p:cNvPr>
          <p:cNvSpPr txBox="1"/>
          <p:nvPr/>
        </p:nvSpPr>
        <p:spPr>
          <a:xfrm>
            <a:off x="0" y="1109133"/>
            <a:ext cx="76792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  <a:latin typeface="Nexa-Book"/>
              </a:rPr>
              <a:t>-</a:t>
            </a:r>
            <a:r>
              <a:rPr lang="pt-BR" sz="2800" b="0" i="0" dirty="0">
                <a:solidFill>
                  <a:schemeClr val="bg1"/>
                </a:solidFill>
                <a:effectLst/>
                <a:latin typeface="Nexa-Book"/>
              </a:rPr>
              <a:t>Infelizmente, grande parte da eletricidade mundial ainda é produzida pela queima de combustíveis fósseis.</a:t>
            </a:r>
            <a:endParaRPr lang="pt-BR" sz="2800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6842F9B-1356-40C9-96B6-8A178A839E5B}"/>
              </a:ext>
            </a:extLst>
          </p:cNvPr>
          <p:cNvSpPr txBox="1"/>
          <p:nvPr/>
        </p:nvSpPr>
        <p:spPr>
          <a:xfrm>
            <a:off x="59267" y="3010694"/>
            <a:ext cx="755226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-</a:t>
            </a:r>
            <a:r>
              <a:rPr lang="pt-BR" sz="2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Em 70 anos, consumimos mais energia do que nos 12 mil anos anteriores.</a:t>
            </a:r>
            <a:endParaRPr lang="pt-BR" sz="2800" b="0" i="0" dirty="0"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1733D5-9B84-465B-83E1-8465D4ABA2D7}"/>
              </a:ext>
            </a:extLst>
          </p:cNvPr>
          <p:cNvSpPr txBox="1"/>
          <p:nvPr/>
        </p:nvSpPr>
        <p:spPr>
          <a:xfrm>
            <a:off x="11446933" y="6526199"/>
            <a:ext cx="745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05531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nergias renováveis ou energias alternativas | Neosolar">
            <a:extLst>
              <a:ext uri="{FF2B5EF4-FFF2-40B4-BE49-F238E27FC236}">
                <a16:creationId xmlns:a16="http://schemas.microsoft.com/office/drawing/2014/main" id="{E76BC5DE-8CF0-483B-B90E-96AD1E2A0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E2B4085A-67E4-4578-A42B-BC5399143D25}"/>
              </a:ext>
            </a:extLst>
          </p:cNvPr>
          <p:cNvSpPr txBox="1"/>
          <p:nvPr/>
        </p:nvSpPr>
        <p:spPr>
          <a:xfrm>
            <a:off x="11684000" y="6443133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4184803-168D-4728-9FF7-714B85B07723}"/>
              </a:ext>
            </a:extLst>
          </p:cNvPr>
          <p:cNvSpPr txBox="1"/>
          <p:nvPr/>
        </p:nvSpPr>
        <p:spPr>
          <a:xfrm>
            <a:off x="4639733" y="2514600"/>
            <a:ext cx="51223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i="1" dirty="0"/>
              <a:t>FONTES ALTERNATIVAS</a:t>
            </a:r>
          </a:p>
        </p:txBody>
      </p:sp>
    </p:spTree>
    <p:extLst>
      <p:ext uri="{BB962C8B-B14F-4D97-AF65-F5344CB8AC3E}">
        <p14:creationId xmlns:p14="http://schemas.microsoft.com/office/powerpoint/2010/main" val="2344156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ltenburg recebe certificado de energia renovável — Revista Hotéis %">
            <a:extLst>
              <a:ext uri="{FF2B5EF4-FFF2-40B4-BE49-F238E27FC236}">
                <a16:creationId xmlns:a16="http://schemas.microsoft.com/office/drawing/2014/main" id="{3C4FE873-B99B-4D10-A3CD-EF3F218CA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9000" y="2427817"/>
            <a:ext cx="6096000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5017E65-449E-415B-97C3-9B118303919B}"/>
              </a:ext>
            </a:extLst>
          </p:cNvPr>
          <p:cNvSpPr txBox="1"/>
          <p:nvPr/>
        </p:nvSpPr>
        <p:spPr>
          <a:xfrm>
            <a:off x="127000" y="3223683"/>
            <a:ext cx="5410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0" i="0" dirty="0">
                <a:effectLst/>
                <a:latin typeface="Roboto" panose="02000000000000000000" pitchFamily="2" charset="0"/>
              </a:rPr>
              <a:t>Os Certificados de Energia Renovável (</a:t>
            </a:r>
            <a:r>
              <a:rPr lang="pt-BR" b="0" i="0" dirty="0" err="1">
                <a:effectLst/>
                <a:latin typeface="Roboto" panose="02000000000000000000" pitchFamily="2" charset="0"/>
              </a:rPr>
              <a:t>REC’s</a:t>
            </a:r>
            <a:r>
              <a:rPr lang="pt-BR" b="0" i="0" dirty="0">
                <a:effectLst/>
                <a:latin typeface="Roboto" panose="02000000000000000000" pitchFamily="2" charset="0"/>
              </a:rPr>
              <a:t>) são uma ferramenta para documentar o consumo de eletricidade a partir de fontes de energia renováveis. Os </a:t>
            </a:r>
            <a:r>
              <a:rPr lang="pt-BR" b="0" i="0" dirty="0" err="1">
                <a:effectLst/>
                <a:latin typeface="Roboto" panose="02000000000000000000" pitchFamily="2" charset="0"/>
              </a:rPr>
              <a:t>REC’s</a:t>
            </a:r>
            <a:r>
              <a:rPr lang="pt-BR" b="0" i="0" dirty="0">
                <a:effectLst/>
                <a:latin typeface="Roboto" panose="02000000000000000000" pitchFamily="2" charset="0"/>
              </a:rPr>
              <a:t> são reconhecidos pelas </a:t>
            </a:r>
            <a:r>
              <a:rPr lang="pt-BR" b="0" i="0" u="none" strike="noStrike" dirty="0">
                <a:effectLst/>
                <a:latin typeface="Roboto" panose="02000000000000000000" pitchFamily="2" charset="0"/>
              </a:rPr>
              <a:t>Diretrizes para verificação de emissões de Gases de Efeito Estufa (GEE)</a:t>
            </a:r>
            <a:r>
              <a:rPr lang="pt-BR" b="0" i="0" dirty="0">
                <a:effectLst/>
                <a:latin typeface="Roboto" panose="02000000000000000000" pitchFamily="2" charset="0"/>
              </a:rPr>
              <a:t> por aquisição de energia elétrica.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008BFF3-0C3B-45ED-8A49-CFC6800C644E}"/>
              </a:ext>
            </a:extLst>
          </p:cNvPr>
          <p:cNvSpPr txBox="1"/>
          <p:nvPr/>
        </p:nvSpPr>
        <p:spPr>
          <a:xfrm>
            <a:off x="0" y="464066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i="1" dirty="0"/>
              <a:t>Certificados de Energia Renovável (</a:t>
            </a:r>
            <a:r>
              <a:rPr lang="pt-BR" sz="4400" b="1" i="1" dirty="0" err="1"/>
              <a:t>REC’s</a:t>
            </a:r>
            <a:r>
              <a:rPr lang="pt-BR" sz="4400" b="1" i="1" dirty="0"/>
              <a:t>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657F38D-70D4-4774-BC54-1ABAAA63CF43}"/>
              </a:ext>
            </a:extLst>
          </p:cNvPr>
          <p:cNvSpPr txBox="1"/>
          <p:nvPr/>
        </p:nvSpPr>
        <p:spPr>
          <a:xfrm>
            <a:off x="59267" y="6519333"/>
            <a:ext cx="136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95805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O polo de Camaçari em números: G1 traça perfil de um dos maiores complexos  industriais integrados do Hemisfério Sul | Avança | G1">
            <a:extLst>
              <a:ext uri="{FF2B5EF4-FFF2-40B4-BE49-F238E27FC236}">
                <a16:creationId xmlns:a16="http://schemas.microsoft.com/office/drawing/2014/main" id="{9D4AF39A-9DEC-437E-8107-51C0AECCEC3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5748866" y="1134533"/>
            <a:ext cx="6443131" cy="572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Wish Hotel da Bahia - Salvador, BA | Zarpo Hotéis">
            <a:extLst>
              <a:ext uri="{FF2B5EF4-FFF2-40B4-BE49-F238E27FC236}">
                <a16:creationId xmlns:a16="http://schemas.microsoft.com/office/drawing/2014/main" id="{CE298439-8F5B-4E40-BACD-61162D1A92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4533"/>
            <a:ext cx="5681133" cy="5723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2079565-F16D-4606-BE46-E809B2A10A11}"/>
              </a:ext>
            </a:extLst>
          </p:cNvPr>
          <p:cNvSpPr txBox="1"/>
          <p:nvPr/>
        </p:nvSpPr>
        <p:spPr>
          <a:xfrm>
            <a:off x="1" y="279400"/>
            <a:ext cx="121919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i="1" dirty="0"/>
              <a:t>SALVADOR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9CF2B38-8296-4F09-A069-BCE780DF9C33}"/>
              </a:ext>
            </a:extLst>
          </p:cNvPr>
          <p:cNvSpPr txBox="1"/>
          <p:nvPr/>
        </p:nvSpPr>
        <p:spPr>
          <a:xfrm>
            <a:off x="11709397" y="6488668"/>
            <a:ext cx="550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274615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71DA5C-6778-4245-8E45-A2AA416C6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333" y="232303"/>
            <a:ext cx="11861800" cy="893763"/>
          </a:xfrm>
        </p:spPr>
        <p:txBody>
          <a:bodyPr/>
          <a:lstStyle/>
          <a:p>
            <a:pPr algn="ctr"/>
            <a:r>
              <a:rPr lang="pt-BR" b="1" i="1" dirty="0"/>
              <a:t>DADOS REGIONAIS</a:t>
            </a:r>
          </a:p>
        </p:txBody>
      </p:sp>
      <p:pic>
        <p:nvPicPr>
          <p:cNvPr id="6146" name="Picture 2" descr="Estação Meteorológica Automática | Metos – IoT Labs">
            <a:extLst>
              <a:ext uri="{FF2B5EF4-FFF2-40B4-BE49-F238E27FC236}">
                <a16:creationId xmlns:a16="http://schemas.microsoft.com/office/drawing/2014/main" id="{DE3B55AA-4B35-4A54-9104-D622788E987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333" y="1566333"/>
            <a:ext cx="11861800" cy="517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4FD7B33-95D6-42CF-A1B1-BF6C0BBA5B00}"/>
              </a:ext>
            </a:extLst>
          </p:cNvPr>
          <p:cNvSpPr txBox="1"/>
          <p:nvPr/>
        </p:nvSpPr>
        <p:spPr>
          <a:xfrm>
            <a:off x="11760200" y="135467"/>
            <a:ext cx="364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092389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D7A02-80EE-48B9-9D30-B1AC30F1D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FILTRAGEM DOS DADOS</a:t>
            </a:r>
          </a:p>
        </p:txBody>
      </p:sp>
      <p:pic>
        <p:nvPicPr>
          <p:cNvPr id="7174" name="Picture 6" descr="Curso de MySQL - Curso Online com Certificado - iPED">
            <a:extLst>
              <a:ext uri="{FF2B5EF4-FFF2-40B4-BE49-F238E27FC236}">
                <a16:creationId xmlns:a16="http://schemas.microsoft.com/office/drawing/2014/main" id="{02A2F4F8-F51E-471D-A49D-20E0C50D3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334" y="3135376"/>
            <a:ext cx="3742267" cy="37226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Microsoft Power BI Pro - Domo Soluções em TI">
            <a:extLst>
              <a:ext uri="{FF2B5EF4-FFF2-40B4-BE49-F238E27FC236}">
                <a16:creationId xmlns:a16="http://schemas.microsoft.com/office/drawing/2014/main" id="{5DBDB0D6-337F-455F-94B4-AD01B5FBA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8601" y="2514600"/>
            <a:ext cx="4343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Python | tshirtgeek">
            <a:extLst>
              <a:ext uri="{FF2B5EF4-FFF2-40B4-BE49-F238E27FC236}">
                <a16:creationId xmlns:a16="http://schemas.microsoft.com/office/drawing/2014/main" id="{A1686282-E94B-4EBD-BEBF-5B07C552A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514600"/>
            <a:ext cx="4343400" cy="434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ACABCF37-FBA5-44D3-8002-4F45BA7DE86C}"/>
              </a:ext>
            </a:extLst>
          </p:cNvPr>
          <p:cNvSpPr txBox="1"/>
          <p:nvPr/>
        </p:nvSpPr>
        <p:spPr>
          <a:xfrm>
            <a:off x="11641669" y="6488668"/>
            <a:ext cx="626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304663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F7B3F-F9AF-4279-8420-D8073FE45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t-BR" b="1" i="1" dirty="0"/>
              <a:t>PYTHON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0D4AB483-FA6B-4075-B6CD-900E4CB17F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325563"/>
            <a:ext cx="12192000" cy="5532437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2889118-C158-43CB-ADA1-1E0314AA904A}"/>
              </a:ext>
            </a:extLst>
          </p:cNvPr>
          <p:cNvSpPr txBox="1"/>
          <p:nvPr/>
        </p:nvSpPr>
        <p:spPr>
          <a:xfrm>
            <a:off x="11540067" y="6480201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136172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BB5459-F834-4E84-9A1A-8C68B1A5B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USO DE BIBLIOTECAS</a:t>
            </a:r>
          </a:p>
        </p:txBody>
      </p:sp>
      <p:pic>
        <p:nvPicPr>
          <p:cNvPr id="1026" name="Picture 2" descr="pandas (software) – Wikipédia, a enciclopédia livre">
            <a:extLst>
              <a:ext uri="{FF2B5EF4-FFF2-40B4-BE49-F238E27FC236}">
                <a16:creationId xmlns:a16="http://schemas.microsoft.com/office/drawing/2014/main" id="{2A1CE4E1-9CA5-44BF-8C1F-4B201EC6AD4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635" y="4428067"/>
            <a:ext cx="5998366" cy="2429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ython &gt;&gt; Matplotlib 개요 | Hyemin Kim">
            <a:extLst>
              <a:ext uri="{FF2B5EF4-FFF2-40B4-BE49-F238E27FC236}">
                <a16:creationId xmlns:a16="http://schemas.microsoft.com/office/drawing/2014/main" id="{3810C11F-0836-420A-85E6-1C40EFAA5B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30705"/>
            <a:ext cx="6358467" cy="4512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2EDA917-2170-4445-B5E6-6DE465549100}"/>
              </a:ext>
            </a:extLst>
          </p:cNvPr>
          <p:cNvSpPr txBox="1"/>
          <p:nvPr/>
        </p:nvSpPr>
        <p:spPr>
          <a:xfrm>
            <a:off x="11455400" y="220133"/>
            <a:ext cx="73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8.1</a:t>
            </a:r>
          </a:p>
        </p:txBody>
      </p:sp>
    </p:spTree>
    <p:extLst>
      <p:ext uri="{BB962C8B-B14F-4D97-AF65-F5344CB8AC3E}">
        <p14:creationId xmlns:p14="http://schemas.microsoft.com/office/powerpoint/2010/main" val="397901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1358DA-15C4-488B-A3A2-EC2DCFF2F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t-BR" b="1" i="1" dirty="0"/>
              <a:t>MYSQL</a:t>
            </a:r>
          </a:p>
        </p:txBody>
      </p:sp>
      <p:pic>
        <p:nvPicPr>
          <p:cNvPr id="8194" name="Picture 2" descr="Diferencias entre MySQL y MariaDB | Overant ®">
            <a:extLst>
              <a:ext uri="{FF2B5EF4-FFF2-40B4-BE49-F238E27FC236}">
                <a16:creationId xmlns:a16="http://schemas.microsoft.com/office/drawing/2014/main" id="{FEB4AA68-1482-4D6E-ACB2-6D18B6BA1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52625"/>
            <a:ext cx="5943600" cy="490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EB8CFA3C-3411-4C27-AB46-9C4B1DC88C83}"/>
              </a:ext>
            </a:extLst>
          </p:cNvPr>
          <p:cNvSpPr txBox="1"/>
          <p:nvPr/>
        </p:nvSpPr>
        <p:spPr>
          <a:xfrm>
            <a:off x="11573933" y="6358467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AA1BC5-B3C4-41BE-83E8-FD797062A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30088F9-9F0C-477C-80D7-753C76A5A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2076" y="1952626"/>
            <a:ext cx="5939887" cy="4905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1231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59D6BF-6DD2-495F-A175-54A8FDF8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Estrutura do Data </a:t>
            </a:r>
            <a:r>
              <a:rPr lang="pt-BR" b="1" i="1" dirty="0" err="1"/>
              <a:t>Warehouse</a:t>
            </a:r>
            <a:endParaRPr lang="pt-BR" b="1" i="1" dirty="0"/>
          </a:p>
        </p:txBody>
      </p:sp>
      <p:pic>
        <p:nvPicPr>
          <p:cNvPr id="2050" name="Picture 2" descr="6 Steps to creating your own data warehouse | by Leke Seweje | Medium">
            <a:extLst>
              <a:ext uri="{FF2B5EF4-FFF2-40B4-BE49-F238E27FC236}">
                <a16:creationId xmlns:a16="http://schemas.microsoft.com/office/drawing/2014/main" id="{84D0AFEB-FFCF-45ED-8420-4E0D2A21CC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066" y="2506662"/>
            <a:ext cx="673293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 que é e como usar o MySQL? | TechTudo | TechTudo">
            <a:extLst>
              <a:ext uri="{FF2B5EF4-FFF2-40B4-BE49-F238E27FC236}">
                <a16:creationId xmlns:a16="http://schemas.microsoft.com/office/drawing/2014/main" id="{A8CF06C8-3AAB-4889-A58F-617E86DB9C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208866"/>
            <a:ext cx="5384800" cy="3045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4B00A67-33BD-41FA-8E54-E2B30457E396}"/>
              </a:ext>
            </a:extLst>
          </p:cNvPr>
          <p:cNvSpPr txBox="1"/>
          <p:nvPr/>
        </p:nvSpPr>
        <p:spPr>
          <a:xfrm>
            <a:off x="11463866" y="6469617"/>
            <a:ext cx="728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9.1</a:t>
            </a:r>
          </a:p>
        </p:txBody>
      </p:sp>
    </p:spTree>
    <p:extLst>
      <p:ext uri="{BB962C8B-B14F-4D97-AF65-F5344CB8AC3E}">
        <p14:creationId xmlns:p14="http://schemas.microsoft.com/office/powerpoint/2010/main" val="180533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B529AD-34DB-42F0-85E3-385BD8985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pt-BR" b="1" i="1" dirty="0" err="1"/>
              <a:t>PowerBI</a:t>
            </a:r>
            <a:endParaRPr lang="pt-BR" b="1" i="1" dirty="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3025BE4-BD57-44C3-B17E-7FEC8274E6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75867" y="2488407"/>
            <a:ext cx="6316133" cy="4351338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160624D-F998-4557-A71F-0A3613606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96230"/>
            <a:ext cx="5875867" cy="4361769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2731D5E9-F45E-4CA1-BFA8-907AEBB5A9B5}"/>
              </a:ext>
            </a:extLst>
          </p:cNvPr>
          <p:cNvSpPr txBox="1"/>
          <p:nvPr/>
        </p:nvSpPr>
        <p:spPr>
          <a:xfrm>
            <a:off x="11624733" y="177800"/>
            <a:ext cx="499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646529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BD689C-0960-46F2-B642-162A85713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CUBO OLAP</a:t>
            </a:r>
          </a:p>
        </p:txBody>
      </p:sp>
      <p:pic>
        <p:nvPicPr>
          <p:cNvPr id="3074" name="Picture 2" descr="GitHub - feonit/olap-cube-js: olap cube javascript">
            <a:extLst>
              <a:ext uri="{FF2B5EF4-FFF2-40B4-BE49-F238E27FC236}">
                <a16:creationId xmlns:a16="http://schemas.microsoft.com/office/drawing/2014/main" id="{446B306D-E474-40C9-90E1-F3DC89C156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3116" y="3211946"/>
            <a:ext cx="2857500" cy="2967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5348DB7-94DA-4C56-9DE8-A7A488B23165}"/>
              </a:ext>
            </a:extLst>
          </p:cNvPr>
          <p:cNvSpPr txBox="1"/>
          <p:nvPr/>
        </p:nvSpPr>
        <p:spPr>
          <a:xfrm>
            <a:off x="11277600" y="617917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10.1</a:t>
            </a:r>
          </a:p>
        </p:txBody>
      </p:sp>
      <p:sp>
        <p:nvSpPr>
          <p:cNvPr id="8" name="AutoShape 10">
            <a:extLst>
              <a:ext uri="{FF2B5EF4-FFF2-40B4-BE49-F238E27FC236}">
                <a16:creationId xmlns:a16="http://schemas.microsoft.com/office/drawing/2014/main" id="{375ECACC-E09E-4E2E-AF0C-48C2910A6B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3086" name="Picture 14" descr="Palestra MySQL Performance Tuning – Blog Nerv Informática">
            <a:extLst>
              <a:ext uri="{FF2B5EF4-FFF2-40B4-BE49-F238E27FC236}">
                <a16:creationId xmlns:a16="http://schemas.microsoft.com/office/drawing/2014/main" id="{D49A9EB0-B0A4-4069-945B-CA7DDCDA7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4" y="3613840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Data Warehouse / Armazém de dados: O que é, conceito e definição">
            <a:extLst>
              <a:ext uri="{FF2B5EF4-FFF2-40B4-BE49-F238E27FC236}">
                <a16:creationId xmlns:a16="http://schemas.microsoft.com/office/drawing/2014/main" id="{DDF78D54-BC3F-4CEB-BEAE-BB2343CE0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2646" y="3193857"/>
            <a:ext cx="6392333" cy="29830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81383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5C3747-68D9-433E-BFFF-31840891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C7F71501-9AA8-4835-B5D9-DB867D7C26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66502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553CD0-EDF7-4F77-9146-49C2C25DF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pt-BR" b="1" i="1" dirty="0"/>
              <a:t>MAPEAMENTO DE EQUIPAMENTOS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1A46DD-EDD1-4C2A-89D9-9CC5D6E3889D}"/>
              </a:ext>
            </a:extLst>
          </p:cNvPr>
          <p:cNvSpPr txBox="1"/>
          <p:nvPr/>
        </p:nvSpPr>
        <p:spPr>
          <a:xfrm>
            <a:off x="11514667" y="6324600"/>
            <a:ext cx="677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11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71C2E3FF-7598-4E20-B238-D851C2357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933" y="1101089"/>
            <a:ext cx="5909733" cy="5702374"/>
          </a:xfrm>
        </p:spPr>
      </p:pic>
    </p:spTree>
    <p:extLst>
      <p:ext uri="{BB962C8B-B14F-4D97-AF65-F5344CB8AC3E}">
        <p14:creationId xmlns:p14="http://schemas.microsoft.com/office/powerpoint/2010/main" val="4057591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2DD4C5-A97E-48A6-90EB-55713AA0A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pt-BR" b="1" i="1" dirty="0"/>
              <a:t>EQUIPAMENTOS USADOS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936A686-B0D5-4669-9F46-E92F9E9A693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600" y="2488407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7ECB4B5-AF46-440A-80EE-DA64195697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7333" y="2488407"/>
            <a:ext cx="2254250" cy="4398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91699B8E-94B5-480D-9719-935B3BCC7318}"/>
              </a:ext>
            </a:extLst>
          </p:cNvPr>
          <p:cNvSpPr txBox="1"/>
          <p:nvPr/>
        </p:nvSpPr>
        <p:spPr>
          <a:xfrm>
            <a:off x="251884" y="3886188"/>
            <a:ext cx="1388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ODA-72LM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E9650A0-8C98-454E-B045-6BFB59F4876F}"/>
              </a:ext>
            </a:extLst>
          </p:cNvPr>
          <p:cNvSpPr txBox="1"/>
          <p:nvPr/>
        </p:nvSpPr>
        <p:spPr>
          <a:xfrm>
            <a:off x="6646333" y="3657600"/>
            <a:ext cx="1532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/>
              <a:t>H20.8-100kW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136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E5B904-6608-4941-8586-AED9D14F7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pt-BR" b="1" i="1" dirty="0"/>
              <a:t>REGISTRO DE BRAINSTOMING</a:t>
            </a: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BC5B85C2-75AC-4AF7-B3C3-226D18E27D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1253330"/>
            <a:ext cx="12192001" cy="5604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FC812AC9-B768-4C62-ADD8-FF466C82446E}"/>
              </a:ext>
            </a:extLst>
          </p:cNvPr>
          <p:cNvSpPr txBox="1"/>
          <p:nvPr/>
        </p:nvSpPr>
        <p:spPr>
          <a:xfrm>
            <a:off x="11430000" y="6488667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865893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D4EF09F-ABBF-4DCE-A6EB-32A603D31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756" y="0"/>
            <a:ext cx="8020487" cy="6857999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4FAFDAA-2945-4B8B-AACD-033D47F9A97A}"/>
              </a:ext>
            </a:extLst>
          </p:cNvPr>
          <p:cNvSpPr txBox="1"/>
          <p:nvPr/>
        </p:nvSpPr>
        <p:spPr>
          <a:xfrm>
            <a:off x="11480800" y="6231467"/>
            <a:ext cx="71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908242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6AC34FA-96FC-4E50-A135-C5BC19D3A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464" y="0"/>
            <a:ext cx="8519071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4B7845C8-63E2-488E-B751-381E5D92F7AE}"/>
              </a:ext>
            </a:extLst>
          </p:cNvPr>
          <p:cNvSpPr txBox="1"/>
          <p:nvPr/>
        </p:nvSpPr>
        <p:spPr>
          <a:xfrm>
            <a:off x="11430000" y="6341533"/>
            <a:ext cx="651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933005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111FB91-9764-4550-8F3A-71A71D029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050" y="0"/>
            <a:ext cx="8030744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1C2B928-C10E-43F3-9E6E-0BFCAAB191CF}"/>
              </a:ext>
            </a:extLst>
          </p:cNvPr>
          <p:cNvSpPr txBox="1"/>
          <p:nvPr/>
        </p:nvSpPr>
        <p:spPr>
          <a:xfrm>
            <a:off x="11455400" y="6392333"/>
            <a:ext cx="73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0610396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159</Words>
  <Application>Microsoft Office PowerPoint</Application>
  <PresentationFormat>Widescreen</PresentationFormat>
  <Paragraphs>39</Paragraphs>
  <Slides>20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Arial</vt:lpstr>
      <vt:lpstr>Arial</vt:lpstr>
      <vt:lpstr>Calibri</vt:lpstr>
      <vt:lpstr>Calibri Light</vt:lpstr>
      <vt:lpstr>Nexa-Book</vt:lpstr>
      <vt:lpstr>Roboto</vt:lpstr>
      <vt:lpstr>Whitney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DADOS REGIONAIS</vt:lpstr>
      <vt:lpstr>FILTRAGEM DOS DADOS</vt:lpstr>
      <vt:lpstr>PYTHON</vt:lpstr>
      <vt:lpstr>USO DE BIBLIOTECAS</vt:lpstr>
      <vt:lpstr>MYSQL</vt:lpstr>
      <vt:lpstr>Estrutura do Data Warehouse</vt:lpstr>
      <vt:lpstr>PowerBI</vt:lpstr>
      <vt:lpstr>CUBO OLAP</vt:lpstr>
      <vt:lpstr>Apresentação do PowerPoint</vt:lpstr>
      <vt:lpstr>MAPEAMENTO DE EQUIPAMENTOS</vt:lpstr>
      <vt:lpstr>EQUIPAMENTOS USADOS</vt:lpstr>
      <vt:lpstr>REGISTRO DE BRAINSTOMING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matheus gotardo</dc:creator>
  <cp:lastModifiedBy>matheus gotardo</cp:lastModifiedBy>
  <cp:revision>33</cp:revision>
  <dcterms:created xsi:type="dcterms:W3CDTF">2022-06-09T00:03:52Z</dcterms:created>
  <dcterms:modified xsi:type="dcterms:W3CDTF">2022-06-09T22:30:41Z</dcterms:modified>
</cp:coreProperties>
</file>